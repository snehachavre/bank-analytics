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2" r:id="rId2"/>
    <p:sldId id="259" r:id="rId3"/>
    <p:sldId id="261" r:id="rId4"/>
    <p:sldId id="262" r:id="rId5"/>
    <p:sldId id="263" r:id="rId6"/>
    <p:sldId id="264" r:id="rId7"/>
    <p:sldId id="265" r:id="rId8"/>
    <p:sldId id="266" r:id="rId9"/>
    <p:sldId id="271" r:id="rId10"/>
    <p:sldId id="268" r:id="rId11"/>
    <p:sldId id="269" r:id="rId12"/>
    <p:sldId id="270" r:id="rId13"/>
    <p:sldId id="260" r:id="rId14"/>
    <p:sldId id="258" r:id="rId15"/>
    <p:sldId id="257" r:id="rId16"/>
    <p:sldId id="26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4F12B-059C-4E20-BED8-D9712F49D732}" type="datetimeFigureOut">
              <a:rPr lang="en-IN" smtClean="0"/>
              <a:t>30-08-2024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65F3C-172C-484D-AB19-8D55E79E8FCB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4F12B-059C-4E20-BED8-D9712F49D732}" type="datetimeFigureOut">
              <a:rPr lang="en-IN" smtClean="0"/>
              <a:t>30-08-2024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65F3C-172C-484D-AB19-8D55E79E8FC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4F12B-059C-4E20-BED8-D9712F49D732}" type="datetimeFigureOut">
              <a:rPr lang="en-IN" smtClean="0"/>
              <a:t>30-08-2024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65F3C-172C-484D-AB19-8D55E79E8FCB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4F12B-059C-4E20-BED8-D9712F49D732}" type="datetimeFigureOut">
              <a:rPr lang="en-IN" smtClean="0"/>
              <a:t>30-08-2024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65F3C-172C-484D-AB19-8D55E79E8FC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4F12B-059C-4E20-BED8-D9712F49D732}" type="datetimeFigureOut">
              <a:rPr lang="en-IN" smtClean="0"/>
              <a:t>30-08-2024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65F3C-172C-484D-AB19-8D55E79E8FC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4F12B-059C-4E20-BED8-D9712F49D732}" type="datetimeFigureOut">
              <a:rPr lang="en-IN" smtClean="0"/>
              <a:t>30-08-2024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65F3C-172C-484D-AB19-8D55E79E8FC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4F12B-059C-4E20-BED8-D9712F49D732}" type="datetimeFigureOut">
              <a:rPr lang="en-IN" smtClean="0"/>
              <a:t>30-08-2024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65F3C-172C-484D-AB19-8D55E79E8FC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DE4F12B-059C-4E20-BED8-D9712F49D732}" type="datetimeFigureOut">
              <a:rPr lang="en-IN" smtClean="0"/>
              <a:t>30-08-2024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AE65F3C-172C-484D-AB19-8D55E79E8FC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4F12B-059C-4E20-BED8-D9712F49D732}" type="datetimeFigureOut">
              <a:rPr lang="en-IN" smtClean="0"/>
              <a:t>30-08-2024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65F3C-172C-484D-AB19-8D55E79E8FC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4F12B-059C-4E20-BED8-D9712F49D732}" type="datetimeFigureOut">
              <a:rPr lang="en-IN" smtClean="0"/>
              <a:t>30-08-2024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65F3C-172C-484D-AB19-8D55E79E8FC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4F12B-059C-4E20-BED8-D9712F49D732}" type="datetimeFigureOut">
              <a:rPr lang="en-IN" smtClean="0"/>
              <a:t>30-08-2024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65F3C-172C-484D-AB19-8D55E79E8FC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DE4F12B-059C-4E20-BED8-D9712F49D732}" type="datetimeFigureOut">
              <a:rPr lang="en-IN" smtClean="0"/>
              <a:t>30-08-2024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AE65F3C-172C-484D-AB19-8D55E79E8FCB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43578" y="1461156"/>
            <a:ext cx="714551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Algerian" panose="04020705040A02060702" pitchFamily="82" charset="0"/>
              </a:rPr>
              <a:t>Project name</a:t>
            </a:r>
          </a:p>
          <a:p>
            <a:pPr algn="ctr"/>
            <a:r>
              <a:rPr lang="en-IN" sz="4000" b="1" dirty="0">
                <a:latin typeface="Algerian" panose="04020705040A02060702" pitchFamily="82" charset="0"/>
              </a:rPr>
              <a:t>Bank Loan Analysis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036" y="-1"/>
            <a:ext cx="2649947" cy="1725105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8766928" y="4232635"/>
            <a:ext cx="361989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b="1" dirty="0">
                <a:solidFill>
                  <a:srgbClr val="002060"/>
                </a:solidFill>
                <a:latin typeface="Algerian" panose="04020705040A02060702" pitchFamily="82" charset="0"/>
              </a:rPr>
              <a:t>Presented By – </a:t>
            </a:r>
          </a:p>
          <a:p>
            <a:r>
              <a:rPr lang="en-IN" sz="1600" b="1" dirty="0">
                <a:solidFill>
                  <a:srgbClr val="002060"/>
                </a:solidFill>
                <a:latin typeface="Algerian" panose="04020705040A02060702" pitchFamily="82" charset="0"/>
              </a:rPr>
              <a:t>	Anuja </a:t>
            </a:r>
            <a:r>
              <a:rPr lang="en-IN" sz="1600" b="1" dirty="0" err="1">
                <a:solidFill>
                  <a:srgbClr val="002060"/>
                </a:solidFill>
                <a:latin typeface="Algerian" panose="04020705040A02060702" pitchFamily="82" charset="0"/>
              </a:rPr>
              <a:t>Guwalani</a:t>
            </a:r>
            <a:endParaRPr lang="en-IN" sz="1600" b="1" dirty="0">
              <a:solidFill>
                <a:srgbClr val="002060"/>
              </a:solidFill>
              <a:latin typeface="Algerian" panose="04020705040A02060702" pitchFamily="82" charset="0"/>
            </a:endParaRPr>
          </a:p>
          <a:p>
            <a:r>
              <a:rPr lang="en-IN" sz="1600" b="1" dirty="0">
                <a:solidFill>
                  <a:srgbClr val="002060"/>
                </a:solidFill>
                <a:latin typeface="Algerian" panose="04020705040A02060702" pitchFamily="82" charset="0"/>
              </a:rPr>
              <a:t>	</a:t>
            </a:r>
            <a:r>
              <a:rPr lang="en-IN" sz="1600" b="1" dirty="0" err="1">
                <a:solidFill>
                  <a:srgbClr val="002060"/>
                </a:solidFill>
                <a:latin typeface="Algerian" panose="04020705040A02060702" pitchFamily="82" charset="0"/>
              </a:rPr>
              <a:t>shyam</a:t>
            </a:r>
            <a:r>
              <a:rPr lang="en-IN" sz="1600" b="1" dirty="0">
                <a:solidFill>
                  <a:srgbClr val="002060"/>
                </a:solidFill>
                <a:latin typeface="Algerian" panose="04020705040A02060702" pitchFamily="82" charset="0"/>
              </a:rPr>
              <a:t> </a:t>
            </a:r>
            <a:r>
              <a:rPr lang="en-IN" sz="1600" b="1" dirty="0" err="1">
                <a:solidFill>
                  <a:srgbClr val="002060"/>
                </a:solidFill>
                <a:latin typeface="Algerian" panose="04020705040A02060702" pitchFamily="82" charset="0"/>
              </a:rPr>
              <a:t>singh</a:t>
            </a:r>
            <a:endParaRPr lang="en-IN" sz="1600" b="1" dirty="0">
              <a:solidFill>
                <a:srgbClr val="002060"/>
              </a:solidFill>
              <a:latin typeface="Algerian" panose="04020705040A02060702" pitchFamily="82" charset="0"/>
            </a:endParaRPr>
          </a:p>
          <a:p>
            <a:r>
              <a:rPr lang="en-IN" sz="1600" b="1" dirty="0">
                <a:solidFill>
                  <a:srgbClr val="002060"/>
                </a:solidFill>
                <a:latin typeface="Algerian" panose="04020705040A02060702" pitchFamily="82" charset="0"/>
              </a:rPr>
              <a:t>	Joshua </a:t>
            </a:r>
            <a:r>
              <a:rPr lang="en-IN" sz="1600" b="1" dirty="0" err="1">
                <a:solidFill>
                  <a:srgbClr val="002060"/>
                </a:solidFill>
                <a:latin typeface="Algerian" panose="04020705040A02060702" pitchFamily="82" charset="0"/>
              </a:rPr>
              <a:t>denis</a:t>
            </a:r>
            <a:endParaRPr lang="en-IN" sz="1600" b="1" dirty="0">
              <a:solidFill>
                <a:srgbClr val="002060"/>
              </a:solidFill>
              <a:latin typeface="Algerian" panose="04020705040A02060702" pitchFamily="82" charset="0"/>
            </a:endParaRPr>
          </a:p>
          <a:p>
            <a:r>
              <a:rPr lang="en-IN" sz="1600" b="1" dirty="0">
                <a:solidFill>
                  <a:srgbClr val="002060"/>
                </a:solidFill>
                <a:latin typeface="Algerian" panose="04020705040A02060702" pitchFamily="82" charset="0"/>
              </a:rPr>
              <a:t>	Santosh </a:t>
            </a:r>
            <a:r>
              <a:rPr lang="en-IN" sz="1600" b="1" dirty="0" err="1">
                <a:solidFill>
                  <a:srgbClr val="002060"/>
                </a:solidFill>
                <a:latin typeface="Algerian" panose="04020705040A02060702" pitchFamily="82" charset="0"/>
              </a:rPr>
              <a:t>kumbhar</a:t>
            </a:r>
            <a:endParaRPr lang="en-IN" sz="1600" b="1" dirty="0">
              <a:solidFill>
                <a:srgbClr val="002060"/>
              </a:solidFill>
              <a:latin typeface="Algerian" panose="04020705040A02060702" pitchFamily="82" charset="0"/>
            </a:endParaRPr>
          </a:p>
          <a:p>
            <a:r>
              <a:rPr lang="en-IN" sz="1600" b="1" dirty="0">
                <a:solidFill>
                  <a:srgbClr val="002060"/>
                </a:solidFill>
                <a:latin typeface="Algerian" panose="04020705040A02060702" pitchFamily="82" charset="0"/>
              </a:rPr>
              <a:t>	Sneha Chavre</a:t>
            </a:r>
          </a:p>
          <a:p>
            <a:r>
              <a:rPr lang="en-IN" sz="1600" b="1" dirty="0">
                <a:solidFill>
                  <a:srgbClr val="002060"/>
                </a:solidFill>
                <a:latin typeface="Algerian" panose="04020705040A02060702" pitchFamily="82" charset="0"/>
              </a:rPr>
              <a:t>	Ruchika </a:t>
            </a:r>
            <a:r>
              <a:rPr lang="en-IN" sz="1600" b="1" dirty="0" err="1">
                <a:solidFill>
                  <a:srgbClr val="002060"/>
                </a:solidFill>
                <a:latin typeface="Algerian" panose="04020705040A02060702" pitchFamily="82" charset="0"/>
              </a:rPr>
              <a:t>vaidya</a:t>
            </a:r>
            <a:endParaRPr lang="en-IN" sz="1600" b="1" dirty="0">
              <a:solidFill>
                <a:srgbClr val="002060"/>
              </a:solidFill>
              <a:latin typeface="Algerian" panose="04020705040A02060702" pitchFamily="8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917756" y="3663619"/>
            <a:ext cx="2026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Algerian" panose="04020705040A02060702" pitchFamily="82" charset="0"/>
              </a:rPr>
              <a:t>Group-5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3464" y="2947127"/>
            <a:ext cx="3431357" cy="25298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47274" y="725864"/>
            <a:ext cx="6344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Algerian" panose="04020705040A02060702" pitchFamily="82" charset="0"/>
              </a:rP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986" y="1923068"/>
            <a:ext cx="100866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is Bank loan analysis project where we were provided with 2 datasets with having 39717 rows each and the objective was to analyze the growth of that bank got within given years in loans.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used MS-Excel, MySQL for analyzing, cleaning and removing duplicates from dataset and prepared dashboard using Tableau and Power BI tools where we did calculations, merging and prepared interactive dashboards.</a:t>
            </a:r>
          </a:p>
          <a:p>
            <a:endParaRPr lang="en-IN" dirty="0"/>
          </a:p>
        </p:txBody>
      </p:sp>
      <p:pic>
        <p:nvPicPr>
          <p:cNvPr id="4" name="Picture 3" descr="Download HD Data Analytics Image - Big Data Analytics Png Transparent PNG  Image - NicePNG.com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7" t="6097" r="5559" b="6315"/>
          <a:stretch>
            <a:fillRect/>
          </a:stretch>
        </p:blipFill>
        <p:spPr bwMode="auto">
          <a:xfrm>
            <a:off x="6180912" y="3849574"/>
            <a:ext cx="4584498" cy="2111604"/>
          </a:xfrm>
          <a:prstGeom prst="rect">
            <a:avLst/>
          </a:prstGeom>
          <a:noFill/>
          <a:effectLst>
            <a:reflection blurRad="25400" stA="62000" endPos="23000" dir="5400000" sy="-100000" algn="bl" rotWithShape="0"/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57080" y="1753386"/>
            <a:ext cx="813533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  <a:latin typeface="Gloucester MT Extra Condensed" panose="02030808020601010101" pitchFamily="18" charset="0"/>
              </a:rPr>
              <a:t>KPI-1</a:t>
            </a:r>
            <a:r>
              <a:rPr lang="en-IN" sz="2000" dirty="0">
                <a:latin typeface="Gloucester MT Extra Condensed" panose="02030808020601010101" pitchFamily="18" charset="0"/>
              </a:rPr>
              <a:t> : Year wise loan amount Stats</a:t>
            </a:r>
          </a:p>
          <a:p>
            <a:pPr marL="36830" indent="0">
              <a:buNone/>
            </a:pPr>
            <a:r>
              <a:rPr lang="en-IN" sz="2000" dirty="0">
                <a:latin typeface="Gloucester MT Extra Condensed" panose="02030808020601010101" pitchFamily="18" charset="0"/>
              </a:rPr>
              <a:t>      </a:t>
            </a:r>
          </a:p>
          <a:p>
            <a:r>
              <a:rPr lang="en-IN" sz="2000" dirty="0">
                <a:solidFill>
                  <a:srgbClr val="FF0000"/>
                </a:solidFill>
                <a:latin typeface="Gloucester MT Extra Condensed" panose="02030808020601010101" pitchFamily="18" charset="0"/>
              </a:rPr>
              <a:t>KPI-2</a:t>
            </a:r>
            <a:r>
              <a:rPr lang="en-IN" sz="2000" dirty="0">
                <a:latin typeface="Gloucester MT Extra Condensed" panose="02030808020601010101" pitchFamily="18" charset="0"/>
              </a:rPr>
              <a:t> : Grade and sub grade wise </a:t>
            </a:r>
            <a:r>
              <a:rPr lang="en-IN" sz="2000" dirty="0" err="1">
                <a:latin typeface="Gloucester MT Extra Condensed" panose="02030808020601010101" pitchFamily="18" charset="0"/>
              </a:rPr>
              <a:t>revolve_balance</a:t>
            </a:r>
            <a:endParaRPr lang="en-IN" sz="2000" dirty="0">
              <a:latin typeface="Gloucester MT Extra Condensed" panose="02030808020601010101" pitchFamily="18" charset="0"/>
            </a:endParaRPr>
          </a:p>
          <a:p>
            <a:endParaRPr lang="en-IN" sz="2000" dirty="0">
              <a:latin typeface="Gloucester MT Extra Condensed" panose="02030808020601010101" pitchFamily="18" charset="0"/>
            </a:endParaRPr>
          </a:p>
          <a:p>
            <a:r>
              <a:rPr lang="en-IN" sz="2000" dirty="0">
                <a:solidFill>
                  <a:srgbClr val="FF0000"/>
                </a:solidFill>
                <a:latin typeface="Gloucester MT Extra Condensed" panose="02030808020601010101" pitchFamily="18" charset="0"/>
              </a:rPr>
              <a:t>KPI-3</a:t>
            </a:r>
            <a:r>
              <a:rPr lang="en-IN" sz="2000" dirty="0">
                <a:latin typeface="Gloucester MT Extra Condensed" panose="02030808020601010101" pitchFamily="18" charset="0"/>
              </a:rPr>
              <a:t> : Total Payment for Verified Status Vs Total Payment for Non Verified Status</a:t>
            </a:r>
          </a:p>
          <a:p>
            <a:endParaRPr lang="en-IN" sz="2000" dirty="0">
              <a:latin typeface="Gloucester MT Extra Condensed" panose="02030808020601010101" pitchFamily="18" charset="0"/>
            </a:endParaRPr>
          </a:p>
          <a:p>
            <a:r>
              <a:rPr lang="en-IN" sz="2000" dirty="0">
                <a:solidFill>
                  <a:srgbClr val="FF0000"/>
                </a:solidFill>
                <a:latin typeface="Gloucester MT Extra Condensed" panose="02030808020601010101" pitchFamily="18" charset="0"/>
              </a:rPr>
              <a:t>KPI-4</a:t>
            </a:r>
            <a:r>
              <a:rPr lang="en-IN" sz="2000" dirty="0">
                <a:latin typeface="Gloucester MT Extra Condensed" panose="02030808020601010101" pitchFamily="18" charset="0"/>
              </a:rPr>
              <a:t> : State wise and </a:t>
            </a:r>
            <a:r>
              <a:rPr lang="en-IN" sz="2000" dirty="0" err="1">
                <a:latin typeface="Gloucester MT Extra Condensed" panose="02030808020601010101" pitchFamily="18" charset="0"/>
              </a:rPr>
              <a:t>last_credit_pull_dept</a:t>
            </a:r>
            <a:r>
              <a:rPr lang="en-IN" sz="2000" dirty="0">
                <a:latin typeface="Gloucester MT Extra Condensed" panose="02030808020601010101" pitchFamily="18" charset="0"/>
              </a:rPr>
              <a:t> wise loan status</a:t>
            </a:r>
          </a:p>
          <a:p>
            <a:pPr marL="36830" indent="0">
              <a:buNone/>
            </a:pPr>
            <a:r>
              <a:rPr lang="en-IN" sz="2000" dirty="0">
                <a:latin typeface="Gloucester MT Extra Condensed" panose="02030808020601010101" pitchFamily="18" charset="0"/>
              </a:rPr>
              <a:t>      </a:t>
            </a:r>
          </a:p>
          <a:p>
            <a:r>
              <a:rPr lang="en-IN" sz="2000" dirty="0">
                <a:solidFill>
                  <a:srgbClr val="FF0000"/>
                </a:solidFill>
                <a:latin typeface="Gloucester MT Extra Condensed" panose="02030808020601010101" pitchFamily="18" charset="0"/>
              </a:rPr>
              <a:t>KPI-5</a:t>
            </a:r>
            <a:r>
              <a:rPr lang="en-IN" sz="2000" dirty="0">
                <a:latin typeface="Gloucester MT Extra Condensed" panose="02030808020601010101" pitchFamily="18" charset="0"/>
              </a:rPr>
              <a:t> : Home ownership Vs last payment date stats</a:t>
            </a:r>
          </a:p>
          <a:p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3836709" y="612742"/>
            <a:ext cx="4260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Algerian" panose="04020705040A02060702" pitchFamily="82" charset="0"/>
              </a:rPr>
              <a:t>Contents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8217" y="1480006"/>
            <a:ext cx="540155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 this chart interest rate and dept installments both are increasing year by year.</a:t>
            </a:r>
          </a:p>
          <a:p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800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As interest rates move up</a:t>
            </a:r>
            <a:r>
              <a:rPr lang="en-US" sz="18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the cost of borrowing becomes more expensive.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0" dirty="0"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﻿Sum of Loan Amount trended up, resulting in a 2,291.46% increase between 2008 and 2016.</a:t>
            </a:r>
          </a:p>
          <a:p>
            <a:endParaRPr lang="en-US" sz="1800"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0" dirty="0"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﻿Sum of Loan Amount started trending up on 2008, rising by 3,656.83% (49991675) in 3 years.</a:t>
            </a:r>
          </a:p>
          <a:p>
            <a:endParaRPr lang="en-US" sz="1800"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0" dirty="0"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﻿Sum of Loan Amount jumped from 1367075 to 51358750 during its steepest incline between 2008 and 2011.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941163" y="518474"/>
            <a:ext cx="67872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Algerian" panose="04020705040A02060702" pitchFamily="82" charset="0"/>
                <a:cs typeface="Times New Roman" panose="02020603050405020304" pitchFamily="18" charset="0"/>
              </a:rPr>
              <a:t>KPI-1 Year Wise Loan Amount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18442"/>
            <a:ext cx="5941479" cy="41227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04973" y="248961"/>
            <a:ext cx="1006782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Algerian" panose="04020705040A02060702" pitchFamily="82" charset="0"/>
                <a:cs typeface="Times New Roman" panose="02020603050405020304" pitchFamily="18" charset="0"/>
              </a:rPr>
              <a:t>KPI-2 Grade and Sub Grade Wise Revolve Balance</a:t>
            </a:r>
          </a:p>
          <a:p>
            <a:pPr algn="ctr"/>
            <a:endParaRPr lang="en-IN" sz="2800" b="1" dirty="0"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7522" y="772179"/>
            <a:ext cx="1042604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Grade and subgrade wise revolve balance we can notice Grade-B have more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revol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balance then any other grade &amp; Grade-G have very low revolve balance.</a:t>
            </a:r>
          </a:p>
          <a:p>
            <a:pPr marL="3683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we can see that Grade B customers has higher annual income for 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10+ yrs of employment period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so higher the annual income lower the Debt to income ratio and hence, more number of customers took loan in Grade B .</a:t>
            </a:r>
          </a:p>
          <a:p>
            <a:pPr marL="3683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Similary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goes for other grades also 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B&gt;A&gt;C&gt;D&gt;E&gt;F&gt;G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for revolving balance as per annual income.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521" y="2865748"/>
            <a:ext cx="10426045" cy="33567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4689" y="1828800"/>
            <a:ext cx="4562573" cy="40158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25485" y="531772"/>
            <a:ext cx="99547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latin typeface="Algerian" panose="04020705040A02060702" pitchFamily="82" charset="0"/>
                <a:cs typeface="Times New Roman" panose="02020603050405020304" pitchFamily="18" charset="0"/>
              </a:rPr>
              <a:t>KPI-3 Total Payment For Verified &amp; Non-Verified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703" y="1828800"/>
            <a:ext cx="536070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83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first stage of the verification process. The bank needs a loan application to initiate the document collection and verification process.</a:t>
            </a:r>
          </a:p>
          <a:p>
            <a:pPr marL="3683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Looking at pie chart we can observe that verified status have </a:t>
            </a:r>
            <a:r>
              <a:rPr lang="en-IN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58.88%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total payment and </a:t>
            </a:r>
            <a:r>
              <a:rPr lang="en-IN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41.12%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total payment which are Not Verified for the Loan Amount. </a:t>
            </a:r>
          </a:p>
          <a:p>
            <a:pPr marL="3683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" indent="0">
              <a:buNone/>
            </a:pPr>
            <a:r>
              <a:rPr lang="en-US" i="0" dirty="0">
                <a:solidFill>
                  <a:srgbClr val="252423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Sum of Total payment for Verified (21,98,92,307.51) was higher than Not Verified (15,35,41,418.21).﻿</a:t>
            </a:r>
            <a:endParaRPr lang="en-IN" i="0" dirty="0">
              <a:solidFill>
                <a:srgbClr val="252423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" indent="0">
              <a:buNone/>
            </a:pPr>
            <a:endParaRPr lang="en-IN" dirty="0">
              <a:solidFill>
                <a:srgbClr val="252423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47215" y="248965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Algerian" panose="04020705040A02060702" pitchFamily="82" charset="0"/>
                <a:cs typeface="Times New Roman" panose="02020603050405020304" pitchFamily="18" charset="0"/>
              </a:rPr>
              <a:t>KPI-4 State Wise Loan Status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248" y="2677211"/>
            <a:ext cx="10577599" cy="32333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04247" y="791840"/>
            <a:ext cx="105775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right graph shows the count of Loan Status in each state of USA on particular last credit pull date.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we can see </a:t>
            </a:r>
            <a:r>
              <a:rPr lang="en-IN" sz="1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 </a:t>
            </a:r>
            <a:r>
              <a:rPr lang="en-US" sz="1600" b="0" i="0" dirty="0">
                <a:solidFill>
                  <a:srgbClr val="252423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had the highest Count of loan status and was 7099 higher than followed by NY and FL.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252423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ME had the lowest Count of loan status at 3.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252423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Across all 50 address state, Count of loan status ranged from 3 to 7,099.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clearly shows that </a:t>
            </a:r>
            <a:r>
              <a:rPr lang="en-IN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97% of bank customers have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fully paid status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state.</a:t>
            </a:r>
          </a:p>
          <a:p>
            <a:pPr marL="36830" indent="0">
              <a:buNone/>
            </a:pPr>
            <a:endParaRPr lang="en-IN" sz="1800" dirty="0">
              <a:latin typeface="Gloucester MT Extra Condensed" panose="02030808020601010101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3950" y="428074"/>
            <a:ext cx="116892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Algerian" panose="04020705040A02060702" pitchFamily="82" charset="0"/>
                <a:cs typeface="Times New Roman" panose="02020603050405020304" pitchFamily="18" charset="0"/>
              </a:rPr>
              <a:t>KPI-5 </a:t>
            </a:r>
            <a:r>
              <a:rPr lang="en-IN" sz="2800" b="1" dirty="0">
                <a:latin typeface="Algerian" panose="04020705040A02060702" pitchFamily="82" charset="0"/>
              </a:rPr>
              <a:t>Home ownership Vs last payment date stats</a:t>
            </a:r>
            <a:endParaRPr lang="en-IN" sz="2800" b="1" dirty="0"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3317" y="1451728"/>
            <a:ext cx="293173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right graph shows the Home ownership and the amount paid for each on last payment date.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we can see that maximum latest amount paid by customers with </a:t>
            </a:r>
            <a:r>
              <a:rPr lang="en-US" sz="1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MORTGAGE &amp;RENT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home ownership.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concludes that many of the customers are about to repay their loan amount for their particular home ownership.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3270" y="1376313"/>
            <a:ext cx="7847770" cy="48076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9057" y="1187777"/>
            <a:ext cx="7569722" cy="45814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47215" y="456357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latin typeface="Algerian" panose="04020705040A02060702" pitchFamily="82" charset="0"/>
                <a:cs typeface="Times New Roman" panose="02020603050405020304" pitchFamily="18" charset="0"/>
              </a:rPr>
              <a:t>Loan Amount Vs purpose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9009" y="987321"/>
            <a:ext cx="4801016" cy="436710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8222" y="362089"/>
            <a:ext cx="52389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latin typeface="Algerian" panose="04020705040A02060702" pitchFamily="82" charset="0"/>
                <a:cs typeface="Times New Roman" panose="02020603050405020304" pitchFamily="18" charset="0"/>
              </a:rPr>
              <a:t>KPI-1 Year Wise Loan Amount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655" y="230113"/>
            <a:ext cx="44470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latin typeface="Algerian" panose="04020705040A02060702" pitchFamily="82" charset="0"/>
                <a:cs typeface="Times New Roman" panose="02020603050405020304" pitchFamily="18" charset="0"/>
              </a:rPr>
              <a:t>KPI-2 Grade and Sub Grade Wise Revolve Balance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309" y="987321"/>
            <a:ext cx="4947628" cy="40748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652" y="1185762"/>
            <a:ext cx="4411747" cy="42817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-120190" y="412126"/>
            <a:ext cx="60944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Algerian" panose="04020705040A02060702" pitchFamily="82" charset="0"/>
                <a:cs typeface="Times New Roman" panose="02020603050405020304" pitchFamily="18" charset="0"/>
              </a:rPr>
              <a:t>KPI-3 Verified &amp; Non-Verified Status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3983" y="1119775"/>
            <a:ext cx="5470691" cy="449860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85383" y="399795"/>
            <a:ext cx="61557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Algerian" panose="04020705040A02060702" pitchFamily="82" charset="0"/>
                <a:cs typeface="Times New Roman" panose="02020603050405020304" pitchFamily="18" charset="0"/>
              </a:rPr>
              <a:t>KPI-4 State Wise Loan Status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181" y="1102936"/>
            <a:ext cx="5159187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1975" y="327284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latin typeface="Algerian" panose="04020705040A02060702" pitchFamily="82" charset="0"/>
                <a:cs typeface="Times New Roman" panose="02020603050405020304" pitchFamily="18" charset="0"/>
              </a:rPr>
              <a:t>KPI-5 </a:t>
            </a:r>
            <a:r>
              <a:rPr lang="en-IN" sz="1800" b="1" dirty="0">
                <a:latin typeface="Algerian" panose="04020705040A02060702" pitchFamily="82" charset="0"/>
              </a:rPr>
              <a:t>Home ownership Vs last payment date stats</a:t>
            </a:r>
            <a:endParaRPr lang="en-IN" sz="1800" b="1" dirty="0"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2598" y="1072957"/>
            <a:ext cx="4905810" cy="4601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31816" y="362089"/>
            <a:ext cx="60944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Algerian" panose="04020705040A02060702" pitchFamily="82" charset="0"/>
                <a:cs typeface="Times New Roman" panose="02020603050405020304" pitchFamily="18" charset="0"/>
              </a:rPr>
              <a:t>Loan Amount VS purpose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54" y="480766"/>
            <a:ext cx="11905155" cy="61557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677213" y="47133"/>
            <a:ext cx="7098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Algerian" panose="04020705040A02060702" pitchFamily="82" charset="0"/>
              </a:rPr>
              <a:t>Excel Dashboard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937" y="612742"/>
            <a:ext cx="11613823" cy="60143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47215" y="126414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>
                <a:latin typeface="Algerian" panose="04020705040A02060702" pitchFamily="82" charset="0"/>
              </a:rPr>
              <a:t>Power Bi  Dashboard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50" y="527901"/>
            <a:ext cx="12023459" cy="62216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47215" y="-14983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>
                <a:latin typeface="Algerian" panose="04020705040A02060702" pitchFamily="82" charset="0"/>
              </a:rPr>
              <a:t>Tableau Dashboard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47215" y="1974072"/>
            <a:ext cx="609442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6600" dirty="0">
                <a:solidFill>
                  <a:srgbClr val="002060"/>
                </a:solidFill>
                <a:latin typeface="Edwardian Script ITC" panose="030303020407070D0804" pitchFamily="66" charset="0"/>
              </a:rPr>
              <a:t>Thank you</a:t>
            </a:r>
            <a:endParaRPr lang="en-IN" sz="2800" dirty="0">
              <a:solidFill>
                <a:srgbClr val="002060"/>
              </a:solidFill>
              <a:latin typeface="Edwardian Script ITC" panose="030303020407070D0804" pitchFamily="66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</TotalTime>
  <Words>649</Words>
  <Application>Microsoft Office PowerPoint</Application>
  <PresentationFormat>Widescreen</PresentationFormat>
  <Paragraphs>68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Algerian</vt:lpstr>
      <vt:lpstr>Arial</vt:lpstr>
      <vt:lpstr>Calibri</vt:lpstr>
      <vt:lpstr>Calibri Light</vt:lpstr>
      <vt:lpstr>Edwardian Script ITC</vt:lpstr>
      <vt:lpstr>Gloucester MT Extra Condensed</vt:lpstr>
      <vt:lpstr>Times New Roman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Sneha Chavre</dc:creator>
  <cp:lastModifiedBy>Sneha Chavre</cp:lastModifiedBy>
  <cp:revision>6</cp:revision>
  <dcterms:created xsi:type="dcterms:W3CDTF">2024-08-28T04:29:00Z</dcterms:created>
  <dcterms:modified xsi:type="dcterms:W3CDTF">2024-08-30T04:44:58Z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2A371452FC0F472E91F391B1E54BE106_13</vt:lpwstr>
  </property>
  <property fmtid="{D5CDD505-2E9C-101B-9397-08002B2CF9AE}" pid="3" name="KSOProductBuildVer">
    <vt:lpwstr>1033-12.2.0.17153</vt:lpwstr>
  </property>
</Properties>
</file>